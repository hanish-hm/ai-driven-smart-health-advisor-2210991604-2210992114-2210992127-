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8" r:id="rId12"/>
    <p:sldId id="279" r:id="rId13"/>
    <p:sldId id="274" r:id="rId14"/>
    <p:sldId id="275" r:id="rId15"/>
    <p:sldId id="276" r:id="rId16"/>
    <p:sldId id="277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DRIVEN SMART HEALTH ADVISOR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Rahul Arora, Raghav, Hanish Mittal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2210992127,2210992114,2210991604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25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PREVENTIVE CARE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 healthcare from reactive "sick care" to proactive "preventive care.“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Isolated, resource-limited, and underserved populations.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lightweight system combining the Internet of Medical Things (IoMT) with AI.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24/7 personalized health advice using real-time vitals and authoritative medical guidelines.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D1CEB-9A3E-07B6-7BF4-E99503C92A04}"/>
              </a:ext>
            </a:extLst>
          </p:cNvPr>
          <p:cNvSpPr txBox="1"/>
          <p:nvPr/>
        </p:nvSpPr>
        <p:spPr>
          <a:xfrm>
            <a:off x="-462116" y="120936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HEALTHCARE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8FB7F-0552-308A-75E1-7049BADFF2E9}"/>
              </a:ext>
            </a:extLst>
          </p:cNvPr>
          <p:cNvSpPr txBox="1"/>
          <p:nvPr/>
        </p:nvSpPr>
        <p:spPr>
          <a:xfrm>
            <a:off x="265471" y="2170666"/>
            <a:ext cx="83180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Delayed Triage:</a:t>
            </a:r>
            <a:r>
              <a:rPr lang="en-US" dirty="0"/>
              <a:t> Patients seek help only when symptoms become critical, overburdening hospitals.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Resource Scarcity:</a:t>
            </a:r>
            <a:r>
              <a:rPr lang="en-US" dirty="0"/>
              <a:t> Lack of immediate physician access and diagnostic centers in remote areas.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Medical Misinformation:</a:t>
            </a:r>
            <a:r>
              <a:rPr lang="en-US" dirty="0"/>
              <a:t> Unverified social media advice spreads rapidly during epidemics (e.g., Nipah, COVID-19).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Infrastructure Limits:</a:t>
            </a:r>
            <a:r>
              <a:rPr lang="en-US" dirty="0"/>
              <a:t> Existing AI health tools require heavy cloud computing and stable broadband, failing in rural settings.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02F6F2-24F8-AA5C-1F5D-6AEE9FFB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15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CFACFF-553A-68EB-2856-A41CB4D3F754}"/>
              </a:ext>
            </a:extLst>
          </p:cNvPr>
          <p:cNvSpPr txBox="1"/>
          <p:nvPr/>
        </p:nvSpPr>
        <p:spPr>
          <a:xfrm>
            <a:off x="-353961" y="1147605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A724E-70FE-19EE-AF27-97D362B3E91F}"/>
              </a:ext>
            </a:extLst>
          </p:cNvPr>
          <p:cNvSpPr txBox="1"/>
          <p:nvPr/>
        </p:nvSpPr>
        <p:spPr>
          <a:xfrm>
            <a:off x="275303" y="1966733"/>
            <a:ext cx="88686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Frontend:</a:t>
            </a:r>
            <a:r>
              <a:rPr lang="en-US" dirty="0"/>
              <a:t> React-based lightweight web interface optimized for low-end devices.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Orchestration:</a:t>
            </a:r>
            <a:r>
              <a:rPr lang="en-US" dirty="0"/>
              <a:t> Express.js routing server acting as the API gateway.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Microservices Approach:</a:t>
            </a:r>
            <a:r>
              <a:rPr lang="en-US" dirty="0"/>
              <a:t> Decoupled backend to ensure deployment flexibility.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 – 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AB756A-3C2C-6FC6-4BCC-B35CD9EA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41" y="4184871"/>
            <a:ext cx="6854518" cy="218703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E9B42D9-60C4-EA35-F5E5-B8AB7EBB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 (Architecture)</a:t>
            </a:r>
          </a:p>
        </p:txBody>
      </p:sp>
    </p:spTree>
    <p:extLst>
      <p:ext uri="{BB962C8B-B14F-4D97-AF65-F5344CB8AC3E}">
        <p14:creationId xmlns:p14="http://schemas.microsoft.com/office/powerpoint/2010/main" val="327424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03AFC4-57A4-B69B-D209-15B016F4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77781" cy="91404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 (The Dual-Engine)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A82F5E-9077-E235-3AB8-1B4CA64B8E8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712242"/>
            <a:ext cx="8229240" cy="4472247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Predictive Health Engine (Python/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numerical vitals (Blood Pressure, Fasting Glucose).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deterministic mathematical thresholds for explainable, low-compute risk classification.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Regulatory Inquiry Engine (Node.js/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 (NLP) to analyze patient symptoms.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a Retrieval-Augmented Generation (RAG) pipeline to fetch exact        WHO/NCDC protocols.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512B1-FE28-3C22-0DC4-70FB0DD516FF}"/>
              </a:ext>
            </a:extLst>
          </p:cNvPr>
          <p:cNvSpPr txBox="1"/>
          <p:nvPr/>
        </p:nvSpPr>
        <p:spPr>
          <a:xfrm>
            <a:off x="0" y="1074614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DUAL-ENGINE INFERENCE MODEL</a:t>
            </a:r>
          </a:p>
        </p:txBody>
      </p:sp>
    </p:spTree>
    <p:extLst>
      <p:ext uri="{BB962C8B-B14F-4D97-AF65-F5344CB8AC3E}">
        <p14:creationId xmlns:p14="http://schemas.microsoft.com/office/powerpoint/2010/main" val="297606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AFCD2-1B4C-6B90-7870-1DA55071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85" y="1850590"/>
            <a:ext cx="6576630" cy="4808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78B896-028D-1ED0-F84F-0D2F4151A7EE}"/>
              </a:ext>
            </a:extLst>
          </p:cNvPr>
          <p:cNvSpPr txBox="1"/>
          <p:nvPr/>
        </p:nvSpPr>
        <p:spPr>
          <a:xfrm>
            <a:off x="0" y="1248697"/>
            <a:ext cx="5827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2 -  RAG PIPELINE ARCHITECTURE MODEL </a:t>
            </a:r>
          </a:p>
        </p:txBody>
      </p:sp>
    </p:spTree>
    <p:extLst>
      <p:ext uri="{BB962C8B-B14F-4D97-AF65-F5344CB8AC3E}">
        <p14:creationId xmlns:p14="http://schemas.microsoft.com/office/powerpoint/2010/main" val="188127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73DE-4199-B1D2-6DD3-C3E888F8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96EEA-57E3-C1C7-89CB-3DA2ECDCF23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914040"/>
            <a:ext cx="8229240" cy="5464173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Outbreak-Aware Triage: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 symptoms directly to active epidemics (e.g., Dengue, COVID-19) based on region.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Actionable Advice: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Categorizes risk into visual tiers (Home Care vs. Immediate Emergency).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Efficiency: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running on the bare minimum hardware with intermittent internet connectivity.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Truth-Grounded AI: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AI "hallucinations" by strictly querying verified regulatory documents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2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5C074D-0BDA-D63B-C986-0A336F8C4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6" y="1986116"/>
            <a:ext cx="8078327" cy="4168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51C4B-6F06-986E-C515-FBBE042DFAFB}"/>
              </a:ext>
            </a:extLst>
          </p:cNvPr>
          <p:cNvSpPr txBox="1"/>
          <p:nvPr/>
        </p:nvSpPr>
        <p:spPr>
          <a:xfrm>
            <a:off x="68826" y="139618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 – USER INTERFACE FEATURES</a:t>
            </a:r>
          </a:p>
        </p:txBody>
      </p:sp>
    </p:spTree>
    <p:extLst>
      <p:ext uri="{BB962C8B-B14F-4D97-AF65-F5344CB8AC3E}">
        <p14:creationId xmlns:p14="http://schemas.microsoft.com/office/powerpoint/2010/main" val="348538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9E2562-CB1D-299A-101C-6A4CC77B8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0" y="2168234"/>
            <a:ext cx="8790039" cy="4144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88F1D-767A-E404-7305-F46612E8C037}"/>
              </a:ext>
            </a:extLst>
          </p:cNvPr>
          <p:cNvSpPr txBox="1"/>
          <p:nvPr/>
        </p:nvSpPr>
        <p:spPr>
          <a:xfrm>
            <a:off x="0" y="149450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4 - RESPONSE INTERFACE</a:t>
            </a:r>
          </a:p>
        </p:txBody>
      </p:sp>
    </p:spTree>
    <p:extLst>
      <p:ext uri="{BB962C8B-B14F-4D97-AF65-F5344CB8AC3E}">
        <p14:creationId xmlns:p14="http://schemas.microsoft.com/office/powerpoint/2010/main" val="402768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4646-40B1-0C5B-E014-99240E02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A6F0B4D-501B-0F2E-C366-96245B45B715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457200" y="1501675"/>
            <a:ext cx="8120743" cy="328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Prediction 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model achieved over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93%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identifying chronic health risks.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Dual-engine processing delivered results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 1 second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Clinical Retrieval: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RAG-based system outperformed traditional keyword-based search methods in clinical relevance.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Edge-Case Detection: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Accurately distinguishes mild cases for home care while rapidly identifying severe health conditions.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Scalable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efficient healthcare support with consistent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290339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E9BB29-31AB-5702-14E1-0B6D6266832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57200" y="2129064"/>
            <a:ext cx="8229600" cy="355600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is pre-configured to ingest continuous data streams from Bluetooth-enabled blood pressure cuffs and glucometers.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Ready to be containerized (Docker/Kubernetes) to serve larger populations.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 to implement privacy-preserving personalization without requiring massive cloud data transfers.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A3A42-36D5-2327-5100-C4E78E3B7F65}"/>
              </a:ext>
            </a:extLst>
          </p:cNvPr>
          <p:cNvSpPr txBox="1"/>
          <p:nvPr/>
        </p:nvSpPr>
        <p:spPr>
          <a:xfrm>
            <a:off x="0" y="1172936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IOMT READINESS</a:t>
            </a:r>
          </a:p>
        </p:txBody>
      </p:sp>
    </p:spTree>
    <p:extLst>
      <p:ext uri="{BB962C8B-B14F-4D97-AF65-F5344CB8AC3E}">
        <p14:creationId xmlns:p14="http://schemas.microsoft.com/office/powerpoint/2010/main" val="3964868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3AC8-C316-C29B-DD08-628CE32F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23BF5-BD15-A756-46D0-08AB971389A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94657" y="500743"/>
            <a:ext cx="7369629" cy="5671457"/>
          </a:xfrm>
        </p:spPr>
        <p:txBody>
          <a:bodyPr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-Bridges the gap between AI-driven health diagnostics and formal       medical communication.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-Reduces misinformation by aligning AI guidance with trusted regulatory standards.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-Enables underserved and remote communities to make informed healthcare decisions.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-Demonstrates that impactful AI healthcare solutions can operate without extensive hardware infrastructure.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-Highlights the potential of accessible, intelligent, and scalable healthcare technology.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27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161A50-77CE-23CA-66F9-9B007AD8917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57200" y="2027750"/>
            <a:ext cx="8229600" cy="3976687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Node.js, React,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Sentence-Transformers, MongoDB.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 &amp; NCDC Protocols.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Bajwa et al., "Artificial intelligence in healthcare,"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NPJ Digital Medicine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Sahoo, "IoMT empowered smart healthcare models."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1EFCD-4A60-03BE-5B11-B43DACAE5F65}"/>
              </a:ext>
            </a:extLst>
          </p:cNvPr>
          <p:cNvSpPr txBox="1"/>
          <p:nvPr/>
        </p:nvSpPr>
        <p:spPr>
          <a:xfrm>
            <a:off x="0" y="1127909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&amp; REFERENCES</a:t>
            </a:r>
          </a:p>
        </p:txBody>
      </p:sp>
    </p:spTree>
    <p:extLst>
      <p:ext uri="{BB962C8B-B14F-4D97-AF65-F5344CB8AC3E}">
        <p14:creationId xmlns:p14="http://schemas.microsoft.com/office/powerpoint/2010/main" val="4293396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34769</TotalTime>
  <Words>682</Words>
  <Application>Microsoft Office PowerPoint</Application>
  <PresentationFormat>On-screen Show (4:3)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Technical Details (Architecture)</vt:lpstr>
      <vt:lpstr>Technical Details (The Dual-Engine)</vt:lpstr>
      <vt:lpstr>PowerPoint Presentation</vt:lpstr>
      <vt:lpstr>KEY FEATURES</vt:lpstr>
      <vt:lpstr>PowerPoint Presentation</vt:lpstr>
      <vt:lpstr>PowerPoint Presentation</vt:lpstr>
      <vt:lpstr>MAJOR FINDINGS</vt:lpstr>
      <vt:lpstr>PowerPoint Presentation</vt:lpstr>
      <vt:lpstr>CONCLUSION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Hanish Mittal</cp:lastModifiedBy>
  <cp:revision>2300</cp:revision>
  <dcterms:created xsi:type="dcterms:W3CDTF">2010-04-09T07:36:15Z</dcterms:created>
  <dcterms:modified xsi:type="dcterms:W3CDTF">2026-05-14T16:20:30Z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